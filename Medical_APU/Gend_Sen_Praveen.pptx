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Who Am I?…"/>
          <p:cNvSpPr txBox="1"/>
          <p:nvPr>
            <p:ph type="subTitle" idx="1"/>
          </p:nvPr>
        </p:nvSpPr>
        <p:spPr>
          <a:xfrm>
            <a:off x="1206499" y="1668196"/>
            <a:ext cx="21971001" cy="11949054"/>
          </a:xfrm>
          <a:prstGeom prst="rect">
            <a:avLst/>
          </a:prstGeom>
        </p:spPr>
        <p:txBody>
          <a:bodyPr/>
          <a:lstStyle/>
          <a:p>
            <a:pPr>
              <a:defRPr sz="6400"/>
            </a:pPr>
            <a:r>
              <a:t>Who Am I?</a:t>
            </a:r>
          </a:p>
          <a:p>
            <a:pPr>
              <a:defRPr sz="6400"/>
            </a:pPr>
          </a:p>
          <a:p>
            <a:pPr lvl="1" marL="901700" indent="-304800">
              <a:lnSpc>
                <a:spcPct val="200000"/>
              </a:lnSpc>
              <a:buSzPct val="100000"/>
              <a:buChar char="•"/>
              <a:defRPr b="0" sz="6400"/>
            </a:pPr>
            <a:r>
              <a:t> I play football regularly</a:t>
            </a:r>
          </a:p>
          <a:p>
            <a:pPr lvl="1" marL="901700" indent="-304800">
              <a:lnSpc>
                <a:spcPct val="200000"/>
              </a:lnSpc>
              <a:buSzPct val="100000"/>
              <a:buChar char="•"/>
              <a:defRPr b="0" sz="6400"/>
            </a:pPr>
            <a:r>
              <a:t> I love cooking</a:t>
            </a:r>
          </a:p>
          <a:p>
            <a:pPr lvl="1" marL="901700" indent="-304800">
              <a:lnSpc>
                <a:spcPct val="200000"/>
              </a:lnSpc>
              <a:buSzPct val="100000"/>
              <a:buChar char="•"/>
              <a:defRPr b="0" sz="6400"/>
            </a:pPr>
            <a:r>
              <a:t> I am the primary caregiver for a family member</a:t>
            </a:r>
          </a:p>
          <a:p>
            <a:pPr lvl="1" marL="901700" indent="-304800">
              <a:lnSpc>
                <a:spcPct val="200000"/>
              </a:lnSpc>
              <a:buSzPct val="100000"/>
              <a:buChar char="•"/>
              <a:defRPr b="0" sz="6400"/>
            </a:pPr>
            <a:r>
              <a:t> I prefer wearing pink</a:t>
            </a:r>
          </a:p>
          <a:p>
            <a:pPr>
              <a:lnSpc>
                <a:spcPct val="200000"/>
              </a:lnSpc>
              <a:defRPr b="0" sz="6400"/>
            </a:pPr>
            <a:r>
              <a:t>Can you imagine the gender of each person?</a:t>
            </a:r>
          </a:p>
        </p:txBody>
      </p:sp>
      <p:sp>
        <p:nvSpPr>
          <p:cNvPr id="172" name="Icebreaker"/>
          <p:cNvSpPr txBox="1"/>
          <p:nvPr>
            <p:ph type="ctrTitle"/>
          </p:nvPr>
        </p:nvSpPr>
        <p:spPr>
          <a:xfrm>
            <a:off x="171881" y="120719"/>
            <a:ext cx="21971004" cy="1717771"/>
          </a:xfrm>
          <a:prstGeom prst="rect">
            <a:avLst/>
          </a:prstGeom>
        </p:spPr>
        <p:txBody>
          <a:bodyPr/>
          <a:lstStyle>
            <a:lvl1pPr algn="ctr" defTabSz="2243271">
              <a:defRPr spc="-213" sz="10672"/>
            </a:lvl1pPr>
          </a:lstStyle>
          <a:p>
            <a:pPr/>
            <a:r>
              <a:t>Icebreaker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A student introduces themselves as…"/>
          <p:cNvSpPr txBox="1"/>
          <p:nvPr>
            <p:ph type="subTitle" idx="1"/>
          </p:nvPr>
        </p:nvSpPr>
        <p:spPr>
          <a:xfrm>
            <a:off x="61617" y="1997392"/>
            <a:ext cx="24260766" cy="11673591"/>
          </a:xfrm>
          <a:prstGeom prst="rect">
            <a:avLst/>
          </a:prstGeom>
        </p:spPr>
        <p:txBody>
          <a:bodyPr/>
          <a:lstStyle/>
          <a:p>
            <a:pPr marL="812800" indent="-812800">
              <a:lnSpc>
                <a:spcPct val="200000"/>
              </a:lnSpc>
              <a:buSzPct val="123000"/>
              <a:buChar char="•"/>
              <a:defRPr b="0" sz="6400"/>
            </a:pPr>
            <a:r>
              <a:t>A student introduces themselves as </a:t>
            </a:r>
          </a:p>
          <a:p>
            <a:pPr lvl="1" algn="ctr">
              <a:lnSpc>
                <a:spcPct val="200000"/>
              </a:lnSpc>
              <a:defRPr b="0" sz="6400"/>
            </a:pPr>
            <a:r>
              <a:t>“Hi, my name is Rahul and I use they/them pronouns” </a:t>
            </a:r>
          </a:p>
          <a:p>
            <a:pPr lvl="2">
              <a:lnSpc>
                <a:spcPct val="200000"/>
              </a:lnSpc>
              <a:defRPr b="0" sz="6400"/>
            </a:pPr>
            <a:r>
              <a:t>some students are unsure how to respond.</a:t>
            </a:r>
          </a:p>
          <a:p>
            <a:pPr lvl="1" marL="1422400" indent="-812800">
              <a:lnSpc>
                <a:spcPct val="200000"/>
              </a:lnSpc>
              <a:buSzPct val="123000"/>
              <a:buChar char="•"/>
              <a:defRPr b="0" sz="6400"/>
            </a:pPr>
            <a:r>
              <a:t> Does it feel unfamiliar? Why?</a:t>
            </a:r>
          </a:p>
          <a:p>
            <a:pPr lvl="1" marL="1422400" indent="-812800">
              <a:lnSpc>
                <a:spcPct val="200000"/>
              </a:lnSpc>
              <a:buSzPct val="123000"/>
              <a:buChar char="•"/>
              <a:defRPr b="0" sz="6400"/>
            </a:pPr>
            <a:r>
              <a:t> Does unfamiliar automatically mean wrong?</a:t>
            </a:r>
          </a:p>
          <a:p>
            <a:pPr>
              <a:lnSpc>
                <a:spcPct val="200000"/>
              </a:lnSpc>
              <a:defRPr b="0" sz="6400"/>
            </a:pPr>
            <a:r>
              <a:t>You don’t need to fully understand someone’s identity to respect it</a:t>
            </a:r>
          </a:p>
        </p:txBody>
      </p:sp>
      <p:sp>
        <p:nvSpPr>
          <p:cNvPr id="175" name="Differences among us"/>
          <p:cNvSpPr txBox="1"/>
          <p:nvPr>
            <p:ph type="ctrTitle"/>
          </p:nvPr>
        </p:nvSpPr>
        <p:spPr>
          <a:xfrm>
            <a:off x="171881" y="120719"/>
            <a:ext cx="21971004" cy="1717771"/>
          </a:xfrm>
          <a:prstGeom prst="rect">
            <a:avLst/>
          </a:prstGeom>
        </p:spPr>
        <p:txBody>
          <a:bodyPr/>
          <a:lstStyle>
            <a:lvl1pPr algn="ctr" defTabSz="2243271">
              <a:defRPr spc="-213" sz="10672"/>
            </a:lvl1pPr>
          </a:lstStyle>
          <a:p>
            <a:pPr/>
            <a:r>
              <a:t>Differences among us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wo students share a hostel room.…"/>
          <p:cNvSpPr txBox="1"/>
          <p:nvPr>
            <p:ph type="subTitle" idx="1"/>
          </p:nvPr>
        </p:nvSpPr>
        <p:spPr>
          <a:xfrm>
            <a:off x="61617" y="2239869"/>
            <a:ext cx="24260766" cy="11395741"/>
          </a:xfrm>
          <a:prstGeom prst="rect">
            <a:avLst/>
          </a:prstGeom>
        </p:spPr>
        <p:txBody>
          <a:bodyPr/>
          <a:lstStyle/>
          <a:p>
            <a:pPr lvl="1" marL="1422400" indent="-812800">
              <a:lnSpc>
                <a:spcPct val="150000"/>
              </a:lnSpc>
              <a:buSzPct val="123000"/>
              <a:buChar char="•"/>
              <a:defRPr b="0" sz="6400"/>
            </a:pPr>
            <a:r>
              <a:t>Two students share a hostel room.</a:t>
            </a:r>
          </a:p>
          <a:p>
            <a:pPr lvl="1" marL="1422400" indent="-812800">
              <a:buSzPct val="123000"/>
              <a:buChar char="•"/>
              <a:defRPr b="0" sz="6400"/>
            </a:pPr>
            <a:r>
              <a:t>One is very open about their identity and relationships. The other comes from a conservative background and feels uncomfortable discussing such topics</a:t>
            </a:r>
          </a:p>
          <a:p>
            <a:pPr lvl="1" marL="1422400" indent="-812800">
              <a:buSzPct val="123000"/>
              <a:buChar char="•"/>
              <a:defRPr b="0" sz="6400"/>
            </a:pPr>
          </a:p>
          <a:p>
            <a:pPr lvl="1" marL="1422400" indent="-812800">
              <a:lnSpc>
                <a:spcPct val="150000"/>
              </a:lnSpc>
              <a:buSzPct val="123000"/>
              <a:buChar char="•"/>
              <a:defRPr b="0" sz="6400"/>
            </a:pPr>
            <a:r>
              <a:t>How can both students coexist respectfully? </a:t>
            </a:r>
          </a:p>
          <a:p>
            <a:pPr lvl="2" marL="2032000" indent="-812800">
              <a:lnSpc>
                <a:spcPct val="150000"/>
              </a:lnSpc>
              <a:buSzPct val="40000"/>
              <a:buBlip>
                <a:blip r:embed="rId2"/>
              </a:buBlip>
              <a:defRPr b="0" sz="6400"/>
            </a:pPr>
            <a:r>
              <a:t>Listening without judgment</a:t>
            </a:r>
          </a:p>
          <a:p>
            <a:pPr lvl="2" marL="2032000" indent="-812800">
              <a:lnSpc>
                <a:spcPct val="150000"/>
              </a:lnSpc>
              <a:buSzPct val="40000"/>
              <a:buBlip>
                <a:blip r:embed="rId2"/>
              </a:buBlip>
              <a:defRPr b="0" sz="6400"/>
            </a:pPr>
            <a:r>
              <a:t>Avoiding stereotypes</a:t>
            </a:r>
          </a:p>
          <a:p>
            <a:pPr lvl="2" marL="2032000" indent="-812800">
              <a:lnSpc>
                <a:spcPct val="150000"/>
              </a:lnSpc>
              <a:buSzPct val="40000"/>
              <a:buBlip>
                <a:blip r:embed="rId2"/>
              </a:buBlip>
              <a:defRPr b="0" sz="6400"/>
            </a:pPr>
            <a:r>
              <a:t>Respecting identities and experiences</a:t>
            </a:r>
          </a:p>
        </p:txBody>
      </p:sp>
      <p:sp>
        <p:nvSpPr>
          <p:cNvPr id="178" name="Accepting the differences"/>
          <p:cNvSpPr txBox="1"/>
          <p:nvPr>
            <p:ph type="ctrTitle"/>
          </p:nvPr>
        </p:nvSpPr>
        <p:spPr>
          <a:xfrm>
            <a:off x="171881" y="120719"/>
            <a:ext cx="21971004" cy="1717771"/>
          </a:xfrm>
          <a:prstGeom prst="rect">
            <a:avLst/>
          </a:prstGeom>
        </p:spPr>
        <p:txBody>
          <a:bodyPr/>
          <a:lstStyle>
            <a:lvl1pPr algn="ctr" defTabSz="2243271">
              <a:defRPr spc="-213" sz="10672"/>
            </a:lvl1pPr>
          </a:lstStyle>
          <a:p>
            <a:pPr/>
            <a:r>
              <a:t>Accepting the differences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1" name="Sex is body parts at birth.…"/>
          <p:cNvSpPr txBox="1"/>
          <p:nvPr>
            <p:ph type="subTitle" idx="1"/>
          </p:nvPr>
        </p:nvSpPr>
        <p:spPr>
          <a:xfrm>
            <a:off x="-213097" y="2314875"/>
            <a:ext cx="24527149" cy="11326916"/>
          </a:xfrm>
          <a:prstGeom prst="rect">
            <a:avLst/>
          </a:prstGeom>
        </p:spPr>
        <p:txBody>
          <a:bodyPr/>
          <a:lstStyle/>
          <a:p>
            <a:pPr lvl="1" marL="1308100" indent="-698500">
              <a:buSzPct val="123000"/>
              <a:buChar char="•"/>
              <a:defRPr b="0"/>
            </a:pPr>
            <a:r>
              <a:t>Sex is body parts at birth. </a:t>
            </a:r>
          </a:p>
          <a:p>
            <a:pPr lvl="1" marL="1308100" indent="-698500">
              <a:buSzPct val="123000"/>
              <a:buChar char="•"/>
              <a:defRPr b="0"/>
            </a:pPr>
          </a:p>
          <a:p>
            <a:pPr lvl="1" marL="1308100" indent="-698500">
              <a:buSzPct val="123000"/>
              <a:buChar char="•"/>
              <a:defRPr b="0"/>
            </a:pPr>
          </a:p>
          <a:p>
            <a:pPr lvl="1" marL="1308100" indent="-698500">
              <a:buSzPct val="123000"/>
              <a:buChar char="•"/>
              <a:defRPr b="0"/>
            </a:pPr>
          </a:p>
          <a:p>
            <a:pPr lvl="1" marL="1308100" indent="-698500">
              <a:buSzPct val="123000"/>
              <a:buChar char="•"/>
              <a:defRPr b="0"/>
            </a:pPr>
          </a:p>
          <a:p>
            <a:pPr lvl="1" marL="1308100" indent="-698500">
              <a:buSzPct val="123000"/>
              <a:buChar char="•"/>
              <a:defRPr b="0"/>
            </a:pPr>
          </a:p>
          <a:p>
            <a:pPr lvl="1" marL="1308100" indent="-698500">
              <a:buSzPct val="123000"/>
              <a:buChar char="•"/>
              <a:defRPr b="0"/>
            </a:pPr>
          </a:p>
          <a:p>
            <a:pPr lvl="1" marL="1308100" indent="-698500">
              <a:buSzPct val="123000"/>
              <a:buChar char="•"/>
              <a:defRPr b="0"/>
            </a:pPr>
            <a:r>
              <a:t>Gender is how your mind and heart feel</a:t>
            </a:r>
          </a:p>
        </p:txBody>
      </p:sp>
      <p:sp>
        <p:nvSpPr>
          <p:cNvPr id="182" name="Female                                                  Intersex                                                   Male"/>
          <p:cNvSpPr/>
          <p:nvPr/>
        </p:nvSpPr>
        <p:spPr>
          <a:xfrm>
            <a:off x="5482862" y="3287113"/>
            <a:ext cx="17621423" cy="4651072"/>
          </a:xfrm>
          <a:prstGeom prst="leftRightArrow">
            <a:avLst>
              <a:gd name="adj1" fmla="val 32000"/>
              <a:gd name="adj2" fmla="val 16070"/>
            </a:avLst>
          </a:prstGeom>
          <a:gradFill>
            <a:gsLst>
              <a:gs pos="0">
                <a:schemeClr val="accent5">
                  <a:hueOff val="-82419"/>
                  <a:satOff val="-9513"/>
                  <a:lumOff val="-16343"/>
                </a:schemeClr>
              </a:gs>
              <a:gs pos="100000">
                <a:schemeClr val="accent1">
                  <a:lumOff val="-13575"/>
                </a:schemeClr>
              </a:gs>
            </a:gsLst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Female                                                  Intersex                                                   Male</a:t>
            </a:r>
          </a:p>
        </p:txBody>
      </p:sp>
      <p:sp>
        <p:nvSpPr>
          <p:cNvPr id="183" name="Women/Girl                           Transgender/Genderqueer                          Man/Boy…"/>
          <p:cNvSpPr/>
          <p:nvPr/>
        </p:nvSpPr>
        <p:spPr>
          <a:xfrm>
            <a:off x="5458944" y="8948634"/>
            <a:ext cx="17669259" cy="4386392"/>
          </a:xfrm>
          <a:prstGeom prst="leftRightArrow">
            <a:avLst>
              <a:gd name="adj1" fmla="val 32000"/>
              <a:gd name="adj2" fmla="val 16265"/>
            </a:avLst>
          </a:prstGeom>
          <a:gradFill>
            <a:gsLst>
              <a:gs pos="0">
                <a:schemeClr val="accent5">
                  <a:hueOff val="-82419"/>
                  <a:satOff val="-9513"/>
                  <a:lumOff val="-16343"/>
                </a:schemeClr>
              </a:gs>
              <a:gs pos="100000">
                <a:schemeClr val="accent1">
                  <a:lumOff val="-13575"/>
                </a:schemeClr>
              </a:gs>
            </a:gsLst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b="1" sz="3600">
                <a:solidFill>
                  <a:srgbClr val="FFFFFF"/>
                </a:solidFill>
              </a:defRPr>
            </a:pPr>
            <a:r>
              <a:t>  Women/Girl                           Transgender/Genderqueer                          Man/Boy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>
                <a:solidFill>
                  <a:srgbClr val="FFFFFF"/>
                </a:solidFill>
              </a:defRPr>
            </a:pPr>
            <a:r>
              <a:t>                                                       Two-spirited etc.  </a:t>
            </a:r>
          </a:p>
        </p:txBody>
      </p:sp>
      <p:sp>
        <p:nvSpPr>
          <p:cNvPr id="184" name="Sex vs Gender"/>
          <p:cNvSpPr txBox="1"/>
          <p:nvPr>
            <p:ph type="ctrTitle"/>
          </p:nvPr>
        </p:nvSpPr>
        <p:spPr>
          <a:xfrm>
            <a:off x="171881" y="120719"/>
            <a:ext cx="21971004" cy="1717771"/>
          </a:xfrm>
          <a:prstGeom prst="rect">
            <a:avLst/>
          </a:prstGeom>
        </p:spPr>
        <p:txBody>
          <a:bodyPr/>
          <a:lstStyle>
            <a:lvl1pPr algn="ctr" defTabSz="2243271">
              <a:defRPr spc="-213" sz="10672"/>
            </a:lvl1pPr>
          </a:lstStyle>
          <a:p>
            <a:pPr/>
            <a:r>
              <a:t>Sex vs Gender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7" name="Gender expression…"/>
          <p:cNvSpPr txBox="1"/>
          <p:nvPr>
            <p:ph type="subTitle" idx="1"/>
          </p:nvPr>
        </p:nvSpPr>
        <p:spPr>
          <a:xfrm>
            <a:off x="171666" y="2264202"/>
            <a:ext cx="24040668" cy="12200843"/>
          </a:xfrm>
          <a:prstGeom prst="rect">
            <a:avLst/>
          </a:prstGeom>
        </p:spPr>
        <p:txBody>
          <a:bodyPr/>
          <a:lstStyle/>
          <a:p>
            <a:pPr lvl="1" marL="1308100" indent="-698500">
              <a:buSzPct val="123000"/>
              <a:buChar char="•"/>
              <a:defRPr b="0"/>
            </a:pPr>
            <a:r>
              <a:t>Gender expression</a:t>
            </a:r>
          </a:p>
          <a:p>
            <a:pPr lvl="1" marL="1308100" indent="-698500">
              <a:buSzPct val="123000"/>
              <a:buChar char="•"/>
              <a:defRPr b="0"/>
            </a:pPr>
          </a:p>
          <a:p>
            <a:pPr lvl="1" marL="1308100" indent="-698500">
              <a:buSzPct val="123000"/>
              <a:buChar char="•"/>
              <a:defRPr b="0"/>
            </a:pPr>
          </a:p>
          <a:p>
            <a:pPr lvl="1" marL="1308100" indent="-698500">
              <a:buSzPct val="123000"/>
              <a:buChar char="•"/>
              <a:defRPr b="0"/>
            </a:pPr>
          </a:p>
          <a:p>
            <a:pPr lvl="1" marL="1308100" indent="-698500">
              <a:buSzPct val="123000"/>
              <a:buChar char="•"/>
              <a:defRPr b="0"/>
            </a:pPr>
          </a:p>
          <a:p>
            <a:pPr lvl="1" marL="1308100" indent="-698500">
              <a:buSzPct val="123000"/>
              <a:buChar char="•"/>
              <a:defRPr b="0"/>
            </a:pPr>
          </a:p>
          <a:p>
            <a:pPr lvl="1" marL="1308100" indent="-698500">
              <a:buSzPct val="123000"/>
              <a:buChar char="•"/>
              <a:defRPr b="0"/>
            </a:pPr>
          </a:p>
          <a:p>
            <a:pPr lvl="1" marL="1308100" indent="-698500">
              <a:buSzPct val="123000"/>
              <a:buChar char="•"/>
              <a:defRPr b="0"/>
            </a:pPr>
            <a:r>
              <a:t>Sexual orientation </a:t>
            </a:r>
          </a:p>
        </p:txBody>
      </p:sp>
      <p:sp>
        <p:nvSpPr>
          <p:cNvPr id="188" name="Feminine                                 Androgynous                            Masculine"/>
          <p:cNvSpPr/>
          <p:nvPr/>
        </p:nvSpPr>
        <p:spPr>
          <a:xfrm>
            <a:off x="5006969" y="3533546"/>
            <a:ext cx="16703025" cy="4194024"/>
          </a:xfrm>
          <a:prstGeom prst="leftRightArrow">
            <a:avLst>
              <a:gd name="adj1" fmla="val 32000"/>
              <a:gd name="adj2" fmla="val 17377"/>
            </a:avLst>
          </a:prstGeom>
          <a:gradFill>
            <a:gsLst>
              <a:gs pos="0">
                <a:schemeClr val="accent5">
                  <a:hueOff val="-82419"/>
                  <a:satOff val="-9513"/>
                  <a:lumOff val="-16343"/>
                </a:schemeClr>
              </a:gs>
              <a:gs pos="100000">
                <a:schemeClr val="accent1">
                  <a:lumOff val="-13575"/>
                </a:schemeClr>
              </a:gs>
            </a:gsLst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b="1" sz="3600">
                <a:gradFill flip="none" rotWithShape="1">
                  <a:gsLst>
                    <a:gs pos="12835">
                      <a:srgbClr val="FFFFFF"/>
                    </a:gs>
                    <a:gs pos="21561">
                      <a:srgbClr val="7F807F"/>
                    </a:gs>
                    <a:gs pos="33516">
                      <a:srgbClr val="000000"/>
                    </a:gs>
                  </a:gsLst>
                  <a:lin ang="0" scaled="0"/>
                </a:gradFill>
              </a:defRPr>
            </a:pPr>
            <a:r>
              <a:rPr>
                <a:solidFill>
                  <a:srgbClr val="FFFFFF"/>
                </a:solidFill>
              </a:rPr>
              <a:t>Feminine</a:t>
            </a:r>
            <a:r>
              <a:t>                                 </a:t>
            </a:r>
            <a:r>
              <a:rPr>
                <a:solidFill>
                  <a:srgbClr val="FFFFFF"/>
                </a:solidFill>
              </a:rPr>
              <a:t>Androgynous</a:t>
            </a:r>
            <a:r>
              <a:t>                            </a:t>
            </a:r>
            <a:r>
              <a:rPr>
                <a:solidFill>
                  <a:srgbClr val="FFFFFF"/>
                </a:solidFill>
              </a:rPr>
              <a:t>Masculine</a:t>
            </a:r>
          </a:p>
        </p:txBody>
      </p:sp>
      <p:sp>
        <p:nvSpPr>
          <p:cNvPr id="189" name="Attracted to Women      Attracted to both…"/>
          <p:cNvSpPr/>
          <p:nvPr/>
        </p:nvSpPr>
        <p:spPr>
          <a:xfrm>
            <a:off x="5006969" y="9290712"/>
            <a:ext cx="16703025" cy="4495204"/>
          </a:xfrm>
          <a:prstGeom prst="leftRightArrow">
            <a:avLst>
              <a:gd name="adj1" fmla="val 32000"/>
              <a:gd name="adj2" fmla="val 15761"/>
            </a:avLst>
          </a:prstGeom>
          <a:gradFill>
            <a:gsLst>
              <a:gs pos="0">
                <a:schemeClr val="accent5">
                  <a:hueOff val="-82419"/>
                  <a:satOff val="-9513"/>
                  <a:lumOff val="-16343"/>
                </a:schemeClr>
              </a:gs>
              <a:gs pos="100000">
                <a:schemeClr val="accent1">
                  <a:lumOff val="-13575"/>
                </a:schemeClr>
              </a:gs>
            </a:gsLst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b="1" sz="3600">
                <a:solidFill>
                  <a:srgbClr val="FFFFFF"/>
                </a:solidFill>
              </a:defRPr>
            </a:pPr>
            <a:r>
              <a:t>  Attracted to Women      Attracted to both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>
                <a:solidFill>
                  <a:srgbClr val="FFFFFF"/>
                </a:solidFill>
              </a:defRPr>
            </a:pPr>
            <a:r>
              <a:t>                                       (&amp;/or more) /none  Attracted to Man </a:t>
            </a:r>
          </a:p>
        </p:txBody>
      </p:sp>
      <p:sp>
        <p:nvSpPr>
          <p:cNvPr id="190" name="Sex vs Gender"/>
          <p:cNvSpPr txBox="1"/>
          <p:nvPr>
            <p:ph type="ctrTitle"/>
          </p:nvPr>
        </p:nvSpPr>
        <p:spPr>
          <a:xfrm>
            <a:off x="171881" y="120719"/>
            <a:ext cx="21971004" cy="1717771"/>
          </a:xfrm>
          <a:prstGeom prst="rect">
            <a:avLst/>
          </a:prstGeom>
        </p:spPr>
        <p:txBody>
          <a:bodyPr/>
          <a:lstStyle>
            <a:lvl1pPr algn="ctr" defTabSz="2243271">
              <a:defRPr spc="-213" sz="10672"/>
            </a:lvl1pPr>
          </a:lstStyle>
          <a:p>
            <a:pPr/>
            <a:r>
              <a:t>Sex vs Gender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During a college fest student A repeatedly asks student B to dance…"/>
          <p:cNvSpPr txBox="1"/>
          <p:nvPr>
            <p:ph type="subTitle" idx="1"/>
          </p:nvPr>
        </p:nvSpPr>
        <p:spPr>
          <a:xfrm>
            <a:off x="61617" y="2239869"/>
            <a:ext cx="24260766" cy="11395741"/>
          </a:xfrm>
          <a:prstGeom prst="rect">
            <a:avLst/>
          </a:prstGeom>
        </p:spPr>
        <p:txBody>
          <a:bodyPr/>
          <a:lstStyle/>
          <a:p>
            <a:pPr lvl="1" marL="1422400" indent="-812800">
              <a:lnSpc>
                <a:spcPct val="120000"/>
              </a:lnSpc>
              <a:buSzPct val="123000"/>
              <a:buChar char="•"/>
              <a:defRPr b="0" sz="6400"/>
            </a:pPr>
            <a:r>
              <a:t>During a college fest student A repeatedly asks student B to dance</a:t>
            </a:r>
          </a:p>
          <a:p>
            <a:pPr lvl="1" marL="1422400" indent="-812800">
              <a:lnSpc>
                <a:spcPct val="120000"/>
              </a:lnSpc>
              <a:buSzPct val="123000"/>
              <a:buChar char="•"/>
              <a:defRPr b="0" sz="6400"/>
            </a:pPr>
          </a:p>
          <a:p>
            <a:pPr lvl="1" marL="1422400" indent="-812800">
              <a:lnSpc>
                <a:spcPct val="120000"/>
              </a:lnSpc>
              <a:buSzPct val="123000"/>
              <a:buChar char="•"/>
              <a:defRPr b="0" sz="6400"/>
            </a:pPr>
            <a:r>
              <a:t>Response of student B: ‘Maybe later’</a:t>
            </a:r>
          </a:p>
          <a:p>
            <a:pPr lvl="1" marL="1422400" indent="-812800">
              <a:lnSpc>
                <a:spcPct val="120000"/>
              </a:lnSpc>
              <a:buSzPct val="123000"/>
              <a:buChar char="•"/>
              <a:defRPr b="0" sz="6400"/>
            </a:pPr>
          </a:p>
          <a:p>
            <a:pPr lvl="1" marL="1422400" indent="-812800">
              <a:lnSpc>
                <a:spcPct val="120000"/>
              </a:lnSpc>
              <a:buSzPct val="123000"/>
              <a:buChar char="•"/>
              <a:defRPr b="0" sz="6400"/>
            </a:pPr>
            <a:r>
              <a:t>Student A continue to ask multiple times.</a:t>
            </a:r>
          </a:p>
          <a:p>
            <a:pPr lvl="1" marL="1422400" indent="-812800">
              <a:lnSpc>
                <a:spcPct val="120000"/>
              </a:lnSpc>
              <a:buSzPct val="123000"/>
              <a:buChar char="•"/>
              <a:defRPr b="0" sz="6400"/>
            </a:pPr>
          </a:p>
          <a:p>
            <a:pPr lvl="1" marL="1422400" indent="-812800">
              <a:lnSpc>
                <a:spcPct val="120000"/>
              </a:lnSpc>
              <a:buSzPct val="123000"/>
              <a:buChar char="•"/>
              <a:defRPr b="0" sz="6400"/>
            </a:pPr>
            <a:r>
              <a:t>Is this consent?</a:t>
            </a:r>
          </a:p>
        </p:txBody>
      </p:sp>
      <p:sp>
        <p:nvSpPr>
          <p:cNvPr id="193" name="Consent"/>
          <p:cNvSpPr txBox="1"/>
          <p:nvPr>
            <p:ph type="ctrTitle"/>
          </p:nvPr>
        </p:nvSpPr>
        <p:spPr>
          <a:xfrm>
            <a:off x="171881" y="120719"/>
            <a:ext cx="21971004" cy="1717771"/>
          </a:xfrm>
          <a:prstGeom prst="rect">
            <a:avLst/>
          </a:prstGeom>
        </p:spPr>
        <p:txBody>
          <a:bodyPr/>
          <a:lstStyle>
            <a:lvl1pPr algn="ctr" defTabSz="2243271">
              <a:defRPr spc="-213" sz="10672"/>
            </a:lvl1pPr>
          </a:lstStyle>
          <a:p>
            <a:pPr/>
            <a:r>
              <a:t>Consent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Understand that everyone is different in various ways…"/>
          <p:cNvSpPr txBox="1"/>
          <p:nvPr>
            <p:ph type="subTitle" idx="1"/>
          </p:nvPr>
        </p:nvSpPr>
        <p:spPr>
          <a:xfrm>
            <a:off x="61617" y="2239869"/>
            <a:ext cx="24260766" cy="11395741"/>
          </a:xfrm>
          <a:prstGeom prst="rect">
            <a:avLst/>
          </a:prstGeom>
        </p:spPr>
        <p:txBody>
          <a:bodyPr/>
          <a:lstStyle/>
          <a:p>
            <a:pPr lvl="1" marL="1422400" indent="-812800">
              <a:lnSpc>
                <a:spcPct val="200000"/>
              </a:lnSpc>
              <a:buSzPct val="123000"/>
              <a:buChar char="•"/>
              <a:defRPr b="0" sz="6400"/>
            </a:pPr>
            <a:r>
              <a:t>Understand that everyone is different in various ways</a:t>
            </a:r>
          </a:p>
          <a:p>
            <a:pPr lvl="1" marL="1422400" indent="-812800">
              <a:lnSpc>
                <a:spcPct val="200000"/>
              </a:lnSpc>
              <a:buSzPct val="123000"/>
              <a:buChar char="•"/>
              <a:defRPr b="0" sz="6400"/>
            </a:pPr>
            <a:r>
              <a:t>Accept those differences and respect them</a:t>
            </a:r>
          </a:p>
          <a:p>
            <a:pPr lvl="1" marL="1422400" indent="-812800">
              <a:lnSpc>
                <a:spcPct val="200000"/>
              </a:lnSpc>
              <a:buSzPct val="123000"/>
              <a:buChar char="•"/>
              <a:defRPr b="0" sz="6400"/>
            </a:pPr>
            <a:r>
              <a:t>Stop making assumptions</a:t>
            </a:r>
          </a:p>
          <a:p>
            <a:pPr lvl="1" marL="1422400" indent="-812800">
              <a:lnSpc>
                <a:spcPct val="200000"/>
              </a:lnSpc>
              <a:buSzPct val="123000"/>
              <a:buChar char="•"/>
              <a:defRPr b="0" sz="6400"/>
            </a:pPr>
            <a:r>
              <a:t>Neither look-up to anybody nor look-down</a:t>
            </a:r>
          </a:p>
          <a:p>
            <a:pPr lvl="1" marL="1422400" indent="-812800">
              <a:lnSpc>
                <a:spcPct val="200000"/>
              </a:lnSpc>
              <a:buSzPct val="123000"/>
              <a:buChar char="•"/>
              <a:defRPr b="0" sz="6400"/>
            </a:pPr>
            <a:r>
              <a:t>Learn to accept “NO” gracefully </a:t>
            </a:r>
          </a:p>
          <a:p>
            <a:pPr lvl="1" marL="1422400" indent="-812800">
              <a:lnSpc>
                <a:spcPct val="200000"/>
              </a:lnSpc>
              <a:buSzPct val="123000"/>
              <a:buChar char="•"/>
              <a:defRPr b="0" sz="6400"/>
            </a:pPr>
            <a:r>
              <a:t>Speak up against disrespectful jokes</a:t>
            </a:r>
          </a:p>
        </p:txBody>
      </p:sp>
      <p:sp>
        <p:nvSpPr>
          <p:cNvPr id="196" name="How can we live together respectfully"/>
          <p:cNvSpPr txBox="1"/>
          <p:nvPr>
            <p:ph type="ctrTitle"/>
          </p:nvPr>
        </p:nvSpPr>
        <p:spPr>
          <a:xfrm>
            <a:off x="1418122" y="120719"/>
            <a:ext cx="21971004" cy="1717771"/>
          </a:xfrm>
          <a:prstGeom prst="rect">
            <a:avLst/>
          </a:prstGeom>
        </p:spPr>
        <p:txBody>
          <a:bodyPr/>
          <a:lstStyle>
            <a:lvl1pPr algn="ctr" defTabSz="2096971">
              <a:defRPr spc="-199" sz="9976"/>
            </a:lvl1pPr>
          </a:lstStyle>
          <a:p>
            <a:pPr/>
            <a:r>
              <a:t>How can we live together respectfully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