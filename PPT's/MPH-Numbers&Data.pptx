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4"/>
  </p:normalViewPr>
  <p:slideViewPr>
    <p:cSldViewPr snapToGrid="0">
      <p:cViewPr varScale="1">
        <p:scale>
          <a:sx n="105" d="100"/>
          <a:sy n="105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017F-4DA4-F55E-6D43-44A55AC9B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801B9-72A4-6998-910A-BB38A7370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5844D-95C8-2C9D-D938-8E6517C9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B8B9A-9704-1D5A-E17A-5F53F068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61C1-6379-3D6B-FF6C-31A66841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7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8094-CF03-A846-F2F2-E3A8CD5C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E7C20-B4E2-1F2D-7C11-1C5B0986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A9D80-EDC6-717B-05DE-6DCCEA9F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B05F-0C80-5355-3327-D67A65D2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4CACC-DD1D-ADC0-1ACB-9B231584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9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8AA4-58E6-953E-240C-863C5715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2C8F2-CE3B-A765-5737-1E5CE9C95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6DF5-9698-C0EC-E9F4-92CDBFD0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17DF-782F-78C4-BE14-ACACE756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84C7D-EDEB-FBED-6983-F579E37B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8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5C33-CFE0-7C02-0E1F-078A7468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81589-2CA9-9AAF-F24A-933B881F0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1A901-7B93-3AE3-EB47-49AEA5D73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66A0C-D641-B660-9A28-5D7ADD93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9B751-E08F-367C-FB85-FF8B24D1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EE74E-0CCA-7612-96B3-780A651E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1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7653-C538-3C7D-555B-0E62CEE99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22D9-32EA-5329-2DD2-7885AC256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C6EC1-25D4-569C-D783-77F3A7770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0D01E-ADA5-B531-1335-35B616C3E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DF6DE-AE4C-75BE-0F8E-EAA35C40D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F4207-0CF1-307A-A842-A018E02F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0A78D-56DF-9799-1B48-0AA56316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F9125-22AA-F45D-850D-8313FEE2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1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815E-9B6D-47B7-E561-C0352CB5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5341D-D878-312F-4DF5-F19EB45D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01673-738D-3A0E-E515-534ECA57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2B104-265E-9957-6B10-2AC7E72F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3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4E1B51-DD28-D215-628A-3F94B214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66B71-2D1D-B0CD-1C32-575949F7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63F4C-E3AF-6931-951F-FB8D8AEC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3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1085-54BC-3FFB-4ABE-8F1889A17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40E71-9B22-734D-7DB4-F24DCC2D6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8D649-8C6A-1935-E871-D378F371E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2F773-D228-5C60-167E-7B5B5B0B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5F174-C43A-B6BD-E2F0-FFAB4D75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8BFB6-7C3C-A8A6-88EB-ED0A00F4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0944-E328-F230-CB09-05812241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8EA89-6C43-9B27-226C-7A62A25FB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BAACB-840D-B9D6-0EEF-2262AFD35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DCA61-B344-C8A8-7C84-ADC73F2A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6623D-BD6C-95FF-A4B3-F4A7B802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2D10-C8C0-0A2A-86CD-65E03C12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5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E468-A7B3-0162-EC1A-669349C8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8C5CE-B034-F224-70BC-5BA12EF3B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D093-FBD3-1B55-6653-B5D0D8EB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6F4B9-498B-EB12-FB30-5A91044C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B885E-36B6-806D-15DB-C6540A2C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8C4A5-9116-9434-D00B-3FEAB5341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53520-040E-7D05-8DBE-0940C0B0D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64ADE-41E7-9D9D-89F3-B45E6D13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137E-6CC1-F449-83FC-F963D11F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B2259-377D-25F4-BA1E-3E9A0B33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4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60909-D95A-6BDC-D6DD-204EB23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92CCA-DDAD-9ACC-52B9-161B37A49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BCAD3-2027-FBB7-F338-99CDE51EF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61DCC-9185-9848-9449-CE5C799B81A7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6E952-E18D-2B75-F0F0-C3580BD41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F94FA-183E-34E6-B427-474A39972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909C8-CFD4-8F43-8421-19EC9889D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9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325847-4DE0-AF19-FA0C-80D26306A807}"/>
              </a:ext>
            </a:extLst>
          </p:cNvPr>
          <p:cNvSpPr/>
          <p:nvPr/>
        </p:nvSpPr>
        <p:spPr>
          <a:xfrm>
            <a:off x="0" y="1219708"/>
            <a:ext cx="12192000" cy="121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B940827-3FA2-4873-BAD0-D2EA9EE97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6695"/>
            <a:ext cx="9144000" cy="2387600"/>
          </a:xfrm>
        </p:spPr>
        <p:txBody>
          <a:bodyPr/>
          <a:lstStyle/>
          <a:p>
            <a:r>
              <a:rPr lang="en-IN" dirty="0"/>
              <a:t>Introduction to Numbers and Data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AA7BF6-D167-F91D-2605-1DEF3303C60B}"/>
              </a:ext>
            </a:extLst>
          </p:cNvPr>
          <p:cNvSpPr txBox="1"/>
          <p:nvPr/>
        </p:nvSpPr>
        <p:spPr>
          <a:xfrm>
            <a:off x="4255008" y="4119563"/>
            <a:ext cx="34185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Praveen Kumar Roy</a:t>
            </a:r>
          </a:p>
          <a:p>
            <a:pPr algn="ctr"/>
            <a:r>
              <a:rPr lang="en-US" sz="3200" dirty="0"/>
              <a:t>5 August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4451D-5119-40E9-43B2-51620FA48EDC}"/>
              </a:ext>
            </a:extLst>
          </p:cNvPr>
          <p:cNvSpPr txBox="1"/>
          <p:nvPr/>
        </p:nvSpPr>
        <p:spPr>
          <a:xfrm>
            <a:off x="0" y="7187"/>
            <a:ext cx="2109216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Talk</a:t>
            </a:r>
          </a:p>
          <a:p>
            <a:r>
              <a:rPr lang="en-IN" sz="3600" dirty="0"/>
              <a:t>Slide</a:t>
            </a:r>
          </a:p>
        </p:txBody>
      </p:sp>
    </p:spTree>
    <p:extLst>
      <p:ext uri="{BB962C8B-B14F-4D97-AF65-F5344CB8AC3E}">
        <p14:creationId xmlns:p14="http://schemas.microsoft.com/office/powerpoint/2010/main" val="1276713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-12192"/>
            <a:ext cx="2692400" cy="123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325847-4DE0-AF19-FA0C-80D26306A807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5F2CBF-6D3F-0C3F-1401-8EF9D4F0C704}"/>
                  </a:ext>
                </a:extLst>
              </p:cNvPr>
              <p:cNvSpPr txBox="1"/>
              <p:nvPr/>
            </p:nvSpPr>
            <p:spPr>
              <a:xfrm>
                <a:off x="0" y="1487424"/>
                <a:ext cx="12192000" cy="317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cs typeface="Times New Roman" panose="02020603050405020304" pitchFamily="18" charset="0"/>
                  </a:rPr>
                  <a:t>Recognize</a:t>
                </a:r>
                <a:r>
                  <a:rPr lang="en-IN" sz="2400" dirty="0">
                    <a:cs typeface="Times New Roman" panose="02020603050405020304" pitchFamily="18" charset="0"/>
                  </a:rPr>
                  <a:t> basic number system types and when each is used.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ℕ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ℚ</m:t>
                      </m:r>
                    </m:oMath>
                  </m:oMathPara>
                </a14:m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effectLst/>
                    <a:cs typeface="Times New Roman" panose="02020603050405020304" pitchFamily="18" charset="0"/>
                  </a:rPr>
                  <a:t>Compute and interpret</a:t>
                </a:r>
                <a:r>
                  <a:rPr lang="en-IN" sz="2400" dirty="0">
                    <a:effectLst/>
                    <a:cs typeface="Times New Roman" panose="02020603050405020304" pitchFamily="18" charset="0"/>
                  </a:rPr>
                  <a:t> percentages and averages (mean, median, mode).</a:t>
                </a:r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effectLst/>
                    <a:cs typeface="Times New Roman" panose="02020603050405020304" pitchFamily="18" charset="0"/>
                  </a:rPr>
                  <a:t>Read and construct</a:t>
                </a:r>
                <a:r>
                  <a:rPr lang="en-IN" sz="2400" dirty="0">
                    <a:effectLst/>
                    <a:cs typeface="Times New Roman" panose="02020603050405020304" pitchFamily="18" charset="0"/>
                  </a:rPr>
                  <a:t> a 2 by 2 contingency table and compute simple proportions.</a:t>
                </a:r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effectLst/>
                    <a:cs typeface="Times New Roman" panose="02020603050405020304" pitchFamily="18" charset="0"/>
                  </a:rPr>
                  <a:t>Choose and interpret</a:t>
                </a:r>
                <a:r>
                  <a:rPr lang="en-IN" sz="2400" dirty="0">
                    <a:effectLst/>
                    <a:cs typeface="Times New Roman" panose="02020603050405020304" pitchFamily="18" charset="0"/>
                  </a:rPr>
                  <a:t> common plots: line chart, bar chart, pie chart, histogram.</a:t>
                </a:r>
                <a:endParaRPr lang="en-IN" sz="2400" dirty="0"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effectLst/>
                    <a:cs typeface="Times New Roman" panose="02020603050405020304" pitchFamily="18" charset="0"/>
                  </a:rPr>
                  <a:t>Apply these skills</a:t>
                </a:r>
                <a:r>
                  <a:rPr lang="en-IN" sz="2400" dirty="0">
                    <a:effectLst/>
                    <a:cs typeface="Times New Roman" panose="02020603050405020304" pitchFamily="18" charset="0"/>
                  </a:rPr>
                  <a:t> to short in‑class examples relevant to public health.</a:t>
                </a:r>
                <a:endParaRPr lang="en-IN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5F2CBF-6D3F-0C3F-1401-8EF9D4F0C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87424"/>
                <a:ext cx="12192000" cy="3174395"/>
              </a:xfrm>
              <a:prstGeom prst="rect">
                <a:avLst/>
              </a:prstGeom>
              <a:blipFill>
                <a:blip r:embed="rId3"/>
                <a:stretch>
                  <a:fillRect l="-728" b="-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91FFD31-843F-09E1-C892-E48A06F73C64}"/>
              </a:ext>
            </a:extLst>
          </p:cNvPr>
          <p:cNvSpPr txBox="1"/>
          <p:nvPr/>
        </p:nvSpPr>
        <p:spPr>
          <a:xfrm>
            <a:off x="-1" y="7187"/>
            <a:ext cx="2145793" cy="120032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77996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1C75D-E5E9-EB9A-EC91-8BFABCA9C88A}"/>
              </a:ext>
            </a:extLst>
          </p:cNvPr>
          <p:cNvSpPr txBox="1"/>
          <p:nvPr/>
        </p:nvSpPr>
        <p:spPr>
          <a:xfrm>
            <a:off x="-1" y="7187"/>
            <a:ext cx="2109217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Number</a:t>
            </a:r>
          </a:p>
          <a:p>
            <a:r>
              <a:rPr lang="en-IN" sz="3600" dirty="0"/>
              <a:t>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C32AB-ADAE-0139-A927-78384584A8E7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8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2974849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Percentages &amp;</a:t>
            </a:r>
          </a:p>
          <a:p>
            <a:r>
              <a:rPr lang="en-IN" sz="3600" dirty="0"/>
              <a:t>Proportions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88683-9775-9CD0-39DD-A749A4168469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22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2828545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Percentages </a:t>
            </a:r>
          </a:p>
          <a:p>
            <a:r>
              <a:rPr lang="en-IN" sz="3600" dirty="0"/>
              <a:t>Pitfalls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13F4B-8661-1564-7842-B78FD1C1C189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6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2535937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Averages </a:t>
            </a:r>
          </a:p>
          <a:p>
            <a:r>
              <a:rPr lang="en-IN" sz="3600" dirty="0"/>
              <a:t>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8B99C-C168-1FF0-905D-32F525E8DB86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5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3084577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When to Use</a:t>
            </a:r>
          </a:p>
          <a:p>
            <a:r>
              <a:rPr lang="en-IN" sz="3600" dirty="0"/>
              <a:t>Which Average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643DB-D331-07B8-1AF0-3D544DB90A47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5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3084577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Short Exercise</a:t>
            </a:r>
          </a:p>
          <a:p>
            <a:r>
              <a:rPr lang="en-IN" sz="3600" dirty="0"/>
              <a:t>On Averages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2C7E-FFBD-D165-8424-69E6E9B26041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9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2548129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3600" dirty="0"/>
              <a:t>2 by 2</a:t>
            </a:r>
          </a:p>
          <a:p>
            <a:pPr algn="ctr"/>
            <a:r>
              <a:rPr lang="en-IN" sz="3600" dirty="0"/>
              <a:t>Table Intro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B9408-4804-AB07-C89A-DC003750334E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4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1" y="7187"/>
            <a:ext cx="2548129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Proportions</a:t>
            </a:r>
          </a:p>
          <a:p>
            <a:r>
              <a:rPr lang="en-IN" sz="3600" dirty="0"/>
              <a:t>From 2 by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D18413-6AD6-8C05-AB8B-9A80F33A1EF0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67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901698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Quick Inter-</a:t>
            </a:r>
          </a:p>
          <a:p>
            <a:r>
              <a:rPr lang="en-IN" sz="3600" dirty="0" err="1"/>
              <a:t>pretation</a:t>
            </a:r>
            <a:r>
              <a:rPr lang="en-IN" sz="3600" dirty="0"/>
              <a:t> Tips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5D92BF-0531-BED0-4B7C-F9FCE994BF58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0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325847-4DE0-AF19-FA0C-80D26306A807}"/>
              </a:ext>
            </a:extLst>
          </p:cNvPr>
          <p:cNvSpPr/>
          <p:nvPr/>
        </p:nvSpPr>
        <p:spPr>
          <a:xfrm>
            <a:off x="0" y="1219708"/>
            <a:ext cx="12192000" cy="121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901698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Plot Type</a:t>
            </a:r>
          </a:p>
          <a:p>
            <a:r>
              <a:rPr lang="en-IN" sz="36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78663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901698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Live Demo</a:t>
            </a:r>
          </a:p>
          <a:p>
            <a:r>
              <a:rPr lang="en-IN" sz="3600" dirty="0"/>
              <a:t>Build Plots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449F7-EE66-08BA-83EC-224855CD45D6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60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901698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Pie Chart</a:t>
            </a:r>
          </a:p>
          <a:p>
            <a:r>
              <a:rPr lang="en-IN" sz="3600" dirty="0"/>
              <a:t>Guidance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4DA886-AC26-2D47-8BE7-6AF97D599E37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6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3706370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Common mistakes</a:t>
            </a:r>
          </a:p>
          <a:p>
            <a:r>
              <a:rPr lang="en-IN" sz="3600" dirty="0"/>
              <a:t>In Plots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1E267-C3FA-CE03-D062-CA7A692BE765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39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889506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Final Mini</a:t>
            </a:r>
          </a:p>
          <a:p>
            <a:r>
              <a:rPr lang="en-IN" sz="3600" dirty="0"/>
              <a:t>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16DFC2-024C-6B1F-BBBC-F893D4E46B86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98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7ACFC5-8D6E-FB38-9EB1-DAAECE34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0"/>
            <a:ext cx="2692400" cy="1231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0CEA4-ABAB-5F4D-54D5-4002E3ADC43D}"/>
              </a:ext>
            </a:extLst>
          </p:cNvPr>
          <p:cNvSpPr txBox="1"/>
          <p:nvPr/>
        </p:nvSpPr>
        <p:spPr>
          <a:xfrm>
            <a:off x="-2" y="7187"/>
            <a:ext cx="2889506" cy="120032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/>
              <a:t>Summary &amp;</a:t>
            </a:r>
          </a:p>
          <a:p>
            <a:r>
              <a:rPr lang="en-IN" sz="3600" dirty="0"/>
              <a:t>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7EFC1-E735-6C9C-8FD8-C22A188880B0}"/>
              </a:ext>
            </a:extLst>
          </p:cNvPr>
          <p:cNvSpPr/>
          <p:nvPr/>
        </p:nvSpPr>
        <p:spPr>
          <a:xfrm>
            <a:off x="0" y="1219708"/>
            <a:ext cx="12192000" cy="4571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149</Words>
  <Application>Microsoft Macintosh PowerPoint</Application>
  <PresentationFormat>Widescreen</PresentationFormat>
  <Paragraphs>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Introduction to Numbers and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Roy</dc:creator>
  <cp:lastModifiedBy>Praveen Roy</cp:lastModifiedBy>
  <cp:revision>3</cp:revision>
  <dcterms:created xsi:type="dcterms:W3CDTF">2026-05-19T10:04:38Z</dcterms:created>
  <dcterms:modified xsi:type="dcterms:W3CDTF">2026-05-20T10:27:36Z</dcterms:modified>
</cp:coreProperties>
</file>